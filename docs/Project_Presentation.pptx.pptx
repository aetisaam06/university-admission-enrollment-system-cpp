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Intermediate %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CS</c:v>
                </c:pt>
                <c:pt idx="1">
                  <c:v>Engineering</c:v>
                </c:pt>
                <c:pt idx="2">
                  <c:v>BBA</c:v>
                </c:pt>
                <c:pt idx="3">
                  <c:v>Arts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65</c:v>
                </c:pt>
                <c:pt idx="2">
                  <c:v>55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AC-48CD-89BB-539C6301B6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Entry Test %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CS</c:v>
                </c:pt>
                <c:pt idx="1">
                  <c:v>Engineering</c:v>
                </c:pt>
                <c:pt idx="2">
                  <c:v>BBA</c:v>
                </c:pt>
                <c:pt idx="3">
                  <c:v>Arts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60</c:v>
                </c:pt>
                <c:pt idx="2">
                  <c:v>50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AC-48CD-89BB-539C6301B6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32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32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891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https://commons.wikimedia.org/wiki/File:Stanford_University_campus_-_Hoover_Tower_view_2014-05-19.JPG (background image; CC BY-SA 4.0)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https://commons.wikimedia.org/wiki/File:College_of_Engineering_Building_II,_North_Carolina_State_University_(2013).jpg (background image; CC BY-SA 3.0)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https://commons.wikimedia.org/wiki/File:Computer_lab_in_future_university.jpg (background image; CC BY 3.0)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anford_campus.jpg"/>
          <p:cNvPicPr>
            <a:picLocks noChangeAspect="1"/>
          </p:cNvPicPr>
          <p:nvPr/>
        </p:nvPicPr>
        <p:blipFill>
          <a:blip r:embed="rId3"/>
          <a:srcRect t="12491" b="12491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>
              <a:alpha val="72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3108960" cy="2011680"/>
          </a:xfrm>
          <a:prstGeom prst="triangle">
            <a:avLst/>
          </a:prstGeom>
          <a:solidFill>
            <a:srgbClr val="12B5E5">
              <a:alpha val="88000"/>
            </a:srgbClr>
          </a:solidFill>
          <a:ln w="12700">
            <a:solidFill>
              <a:srgbClr val="12B5E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10800000">
            <a:off x="8366760" y="4398357"/>
            <a:ext cx="3840480" cy="2468880"/>
          </a:xfrm>
          <a:prstGeom prst="triangl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417320"/>
            <a:ext cx="10652760" cy="3017520"/>
          </a:xfrm>
          <a:prstGeom prst="round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43000" y="17830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University Admission &amp;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Enrollment System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1143000" y="3246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Console Application | Eligibility • Program Selection • Merit • Aid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" y="3840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 Project Presentation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→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048" y="740664"/>
            <a:ext cx="3108960" cy="2011680"/>
          </a:xfrm>
          <a:prstGeom prst="triangle">
            <a:avLst/>
          </a:prstGeom>
          <a:solidFill>
            <a:srgbClr val="12B5E5">
              <a:alpha val="88000"/>
            </a:srgbClr>
          </a:solidFill>
          <a:ln w="12700">
            <a:solidFill>
              <a:srgbClr val="12B5E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351520" y="4425178"/>
            <a:ext cx="3840480" cy="2468880"/>
          </a:xfrm>
          <a:prstGeom prst="triangl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430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automate admissions?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6629400" cy="1637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screening is slow and inconsistent</a:t>
            </a:r>
            <a:endParaRPr lang="en-US" sz="1700" dirty="0"/>
          </a:p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programs require different rules and thresholds</a:t>
            </a:r>
            <a:endParaRPr lang="en-US" sz="1700" dirty="0"/>
          </a:p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need clear outcomes: selection, merit category, aid, hostel</a:t>
            </a:r>
            <a:endParaRPr lang="en-US" sz="1700" dirty="0"/>
          </a:p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rule-based system improves transparency and reduces errors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611880" cy="118872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49640" y="1709928"/>
            <a:ext cx="109728" cy="658368"/>
          </a:xfrm>
          <a:prstGeom prst="rect">
            <a:avLst/>
          </a:prstGeom>
          <a:solidFill>
            <a:srgbClr val="12B5E5"/>
          </a:solidFill>
          <a:ln w="12700">
            <a:solidFill>
              <a:srgbClr val="12B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1673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32520" y="19842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Eligibility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9600" y="2788920"/>
            <a:ext cx="3611880" cy="118872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3081528"/>
            <a:ext cx="10972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3044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33558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229600" y="4160520"/>
            <a:ext cx="3611880" cy="118872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9640" y="4453128"/>
            <a:ext cx="109728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44165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47274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Merit + Aid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program delivers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31520"/>
            <a:ext cx="3108960" cy="2011680"/>
          </a:xfrm>
          <a:prstGeom prst="triangle">
            <a:avLst/>
          </a:prstGeom>
          <a:solidFill>
            <a:srgbClr val="22C55E">
              <a:alpha val="8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385048" y="4434840"/>
            <a:ext cx="3840480" cy="2468880"/>
          </a:xfrm>
          <a:prstGeom prst="triangl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5440680" cy="141732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88720" y="2286000"/>
            <a:ext cx="109728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22199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Eligibility Check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&amp; Intermediate % screening (Stage 1).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48272" y="1965960"/>
            <a:ext cx="5440680" cy="141732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59752" y="2286000"/>
            <a:ext cx="109728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2632" y="222199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Selection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42632" y="26517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rules for CS, Engineering, BBA, and Arts.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3886200"/>
            <a:ext cx="5440680" cy="141732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88720" y="4206240"/>
            <a:ext cx="10972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422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Merit &amp; Categories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5720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merit = (Inter + Test) / 2 and assign category.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48272" y="3886200"/>
            <a:ext cx="5440680" cy="141732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59752" y="4206240"/>
            <a:ext cx="109728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2632" y="41422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 Decisions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42632" y="45720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Merit scholarship, need-based aid, or normal fee.</a:t>
            </a:r>
            <a:endParaRPr lang="en-US" sz="1400"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flow</a:t>
            </a:r>
            <a:endParaRPr lang="en-US" sz="1200" dirty="0"/>
          </a:p>
        </p:txBody>
      </p:sp>
      <p:pic>
        <p:nvPicPr>
          <p:cNvPr id="5" name="Image 0" descr="/mnt/data/engineering_building.jpg"/>
          <p:cNvPicPr>
            <a:picLocks noChangeAspect="1"/>
          </p:cNvPicPr>
          <p:nvPr/>
        </p:nvPicPr>
        <p:blipFill>
          <a:blip r:embed="rId3"/>
          <a:srcRect t="5454" b="5454"/>
          <a:stretch/>
        </p:blipFill>
        <p:spPr>
          <a:xfrm>
            <a:off x="0" y="749808"/>
            <a:ext cx="12188952" cy="6108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759044"/>
            <a:ext cx="12188952" cy="6108192"/>
          </a:xfrm>
          <a:prstGeom prst="rect">
            <a:avLst/>
          </a:prstGeom>
          <a:solidFill>
            <a:srgbClr val="0B1220">
              <a:alpha val="60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CB65AE6-63C4-6CD8-4D6A-873C42C533B9}"/>
              </a:ext>
            </a:extLst>
          </p:cNvPr>
          <p:cNvGrpSpPr/>
          <p:nvPr/>
        </p:nvGrpSpPr>
        <p:grpSpPr>
          <a:xfrm>
            <a:off x="402336" y="1874520"/>
            <a:ext cx="11384280" cy="3429000"/>
            <a:chOff x="822960" y="1874520"/>
            <a:chExt cx="11384280" cy="3429000"/>
          </a:xfrm>
        </p:grpSpPr>
        <p:sp>
          <p:nvSpPr>
            <p:cNvPr id="7" name="Shape 4"/>
            <p:cNvSpPr/>
            <p:nvPr/>
          </p:nvSpPr>
          <p:spPr>
            <a:xfrm>
              <a:off x="822960" y="1874520"/>
              <a:ext cx="3429000" cy="3429000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12700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8" name="Shape 5"/>
            <p:cNvSpPr/>
            <p:nvPr/>
          </p:nvSpPr>
          <p:spPr>
            <a:xfrm>
              <a:off x="822960" y="1874520"/>
              <a:ext cx="3429000" cy="502920"/>
            </a:xfrm>
            <a:prstGeom prst="rect">
              <a:avLst/>
            </a:prstGeom>
            <a:solidFill>
              <a:srgbClr val="12B5E5">
                <a:alpha val="92000"/>
              </a:srgbClr>
            </a:solidFill>
            <a:ln w="12700">
              <a:solidFill>
                <a:srgbClr val="12B5E5">
                  <a:alpha val="0"/>
                </a:srgbClr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1051560" y="1984248"/>
              <a:ext cx="2971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Inputs</a:t>
              </a:r>
              <a:endParaRPr lang="en-US" sz="18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143000" y="2587752"/>
              <a:ext cx="2880360" cy="2202561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Age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Matric %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Inter %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Entry test %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Stream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Non-local?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Income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Program</a:t>
              </a:r>
              <a:endParaRPr lang="en-US" sz="135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4800600" y="1874520"/>
              <a:ext cx="3429000" cy="3429000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12700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2" name="Shape 9"/>
            <p:cNvSpPr/>
            <p:nvPr/>
          </p:nvSpPr>
          <p:spPr>
            <a:xfrm>
              <a:off x="4800600" y="1874520"/>
              <a:ext cx="3429000" cy="502920"/>
            </a:xfrm>
            <a:prstGeom prst="rect">
              <a:avLst/>
            </a:prstGeom>
            <a:solidFill>
              <a:srgbClr val="7C3AED">
                <a:alpha val="92000"/>
              </a:srgbClr>
            </a:solidFill>
            <a:ln w="12700">
              <a:solidFill>
                <a:srgbClr val="7C3AED">
                  <a:alpha val="0"/>
                </a:srgbClr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5029200" y="1984248"/>
              <a:ext cx="2971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Processing</a:t>
              </a:r>
              <a:endParaRPr lang="en-US" sz="18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120640" y="2587752"/>
              <a:ext cx="2880360" cy="178422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Stage 1 eligibility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Dept suggestion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Program rules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Merit calculation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Aid/fee rules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Hostel decision</a:t>
              </a:r>
              <a:endParaRPr lang="en-US" sz="135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8778240" y="1874520"/>
              <a:ext cx="3429000" cy="3429000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12700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6" name="Shape 13"/>
            <p:cNvSpPr/>
            <p:nvPr/>
          </p:nvSpPr>
          <p:spPr>
            <a:xfrm>
              <a:off x="8778240" y="1874520"/>
              <a:ext cx="3429000" cy="502920"/>
            </a:xfrm>
            <a:prstGeom prst="rect">
              <a:avLst/>
            </a:prstGeom>
            <a:solidFill>
              <a:srgbClr val="F97316">
                <a:alpha val="92000"/>
              </a:srgbClr>
            </a:solidFill>
            <a:ln w="12700">
              <a:solidFill>
                <a:srgbClr val="F97316">
                  <a:alpha val="0"/>
                </a:srgbClr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9006840" y="1984248"/>
              <a:ext cx="2971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Outputs</a:t>
              </a:r>
              <a:endParaRPr lang="en-US" sz="18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9098280" y="2587752"/>
              <a:ext cx="2880360" cy="157505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Selection result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Merit category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Scholarship / aid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Hostel status</a:t>
              </a:r>
              <a:endParaRPr lang="en-US" sz="1350" dirty="0"/>
            </a:p>
            <a:p>
              <a:pPr marL="228600" indent="-228600">
                <a:spcAft>
                  <a:spcPts val="100"/>
                </a:spcAft>
                <a:buSzPct val="100000"/>
                <a:buChar char="•"/>
              </a:pPr>
              <a:r>
                <a:rPr lang="en-US" sz="13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Document checklist</a:t>
              </a:r>
              <a:endParaRPr lang="en-US" sz="1350" dirty="0"/>
            </a:p>
          </p:txBody>
        </p:sp>
        <p:pic>
          <p:nvPicPr>
            <p:cNvPr id="19" name="Image 1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97680" y="3291840"/>
              <a:ext cx="868680" cy="292608"/>
            </a:xfrm>
            <a:prstGeom prst="rect">
              <a:avLst/>
            </a:prstGeom>
          </p:spPr>
        </p:pic>
      </p:grp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7556" y="3291840"/>
            <a:ext cx="868680" cy="29260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Inputs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system asks for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048" y="740756"/>
            <a:ext cx="3108960" cy="2011680"/>
          </a:xfrm>
          <a:prstGeom prst="triangle">
            <a:avLst/>
          </a:prstGeom>
          <a:solidFill>
            <a:srgbClr val="0EA5E9">
              <a:alpha val="8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351520" y="4389121"/>
            <a:ext cx="3840480" cy="2468880"/>
          </a:xfrm>
          <a:prstGeom prst="triangl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344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Collected from applicant: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5669280" cy="2163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</a:t>
            </a:r>
            <a:endParaRPr lang="en-US" sz="1700" dirty="0"/>
          </a:p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 %, Intermediate %, Entry test %</a:t>
            </a:r>
            <a:endParaRPr lang="en-US" sz="1700" dirty="0"/>
          </a:p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(Pre-Medical, Pre-Eng, ICS, Arts, Commerce)</a:t>
            </a:r>
            <a:endParaRPr lang="en-US" sz="1700" dirty="0"/>
          </a:p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Non-local status (hostel eligibility)</a:t>
            </a:r>
            <a:endParaRPr lang="en-US" sz="1700" dirty="0"/>
          </a:p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family income (need-based aid)</a:t>
            </a:r>
            <a:endParaRPr lang="en-US" sz="1700" dirty="0"/>
          </a:p>
          <a:p>
            <a:pPr marL="266700" indent="-2667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program (CS, Engineering, BBA, Arts)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03720" y="1234440"/>
            <a:ext cx="4572000" cy="489204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1463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&amp; early exits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2011680"/>
            <a:ext cx="4206240" cy="15208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7650" indent="-247650">
              <a:spcAft>
                <a:spcPts val="200"/>
              </a:spcAft>
              <a:buSzPct val="100000"/>
              <a:buChar char="•"/>
            </a:pPr>
            <a:r>
              <a:rPr lang="en-US" sz="15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must be ≥ 17</a:t>
            </a:r>
            <a:endParaRPr lang="en-US" sz="1550" dirty="0"/>
          </a:p>
          <a:p>
            <a:pPr marL="247650" indent="-247650">
              <a:spcAft>
                <a:spcPts val="200"/>
              </a:spcAft>
              <a:buSzPct val="100000"/>
              <a:buChar char="•"/>
            </a:pPr>
            <a:r>
              <a:rPr lang="en-US" sz="15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must be ≥ 50% (Stage 1)</a:t>
            </a:r>
            <a:endParaRPr lang="en-US" sz="1550" dirty="0"/>
          </a:p>
          <a:p>
            <a:pPr marL="247650" indent="-247650">
              <a:spcAft>
                <a:spcPts val="200"/>
              </a:spcAft>
              <a:buSzPct val="100000"/>
              <a:buChar char="•"/>
            </a:pPr>
            <a:r>
              <a:rPr lang="en-US" sz="15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choice must be 1–4</a:t>
            </a:r>
            <a:endParaRPr lang="en-US" sz="1550" dirty="0"/>
          </a:p>
          <a:p>
            <a:pPr marL="247650" indent="-247650">
              <a:spcAft>
                <a:spcPts val="200"/>
              </a:spcAft>
              <a:buSzPct val="100000"/>
              <a:buChar char="•"/>
            </a:pPr>
            <a:r>
              <a:rPr lang="en-US" sz="15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requires Pre-Engineering stream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178040" y="4434840"/>
            <a:ext cx="4160520" cy="1417320"/>
          </a:xfrm>
          <a:prstGeom prst="round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4617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note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4892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reads Matric %, but the current merit formula uses only Intermediate + Test.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1: Basic Eligibility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screening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" y="750176"/>
            <a:ext cx="3108960" cy="2011680"/>
          </a:xfrm>
          <a:prstGeom prst="triangle">
            <a:avLst/>
          </a:prstGeom>
          <a:solidFill>
            <a:srgbClr val="F97316">
              <a:alpha val="8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348472" y="4434840"/>
            <a:ext cx="3840480" cy="2468880"/>
          </a:xfrm>
          <a:prstGeom prst="triangle">
            <a:avLst/>
          </a:prstGeom>
          <a:solidFill>
            <a:srgbClr val="12B5E5">
              <a:alpha val="85000"/>
            </a:srgbClr>
          </a:solidFill>
          <a:ln w="12700">
            <a:solidFill>
              <a:srgbClr val="12B5E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10652760" cy="507492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169164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Rules implemented: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97280" y="2331720"/>
            <a:ext cx="5074920" cy="1600200"/>
          </a:xfrm>
          <a:prstGeom prst="round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5877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 ≥ 17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31363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age is below 17, system exits with “Not Eligible”.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2331720"/>
            <a:ext cx="5074920" cy="1600200"/>
          </a:xfrm>
          <a:prstGeom prst="roundRect">
            <a:avLst/>
          </a:prstGeom>
          <a:solidFill>
            <a:srgbClr val="12B5E5">
              <a:alpha val="12000"/>
            </a:srgbClr>
          </a:solidFill>
          <a:ln w="12700">
            <a:solidFill>
              <a:srgbClr val="12B5E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5877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 ≥ 50%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29400" y="31363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must be at least 50% to proceed.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7280" y="4206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5262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Passed → proceed to department suggestion + program selection.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Stream-based Department Suggestion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before selection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7"/>
            <a:ext cx="3108960" cy="2011680"/>
          </a:xfrm>
          <a:prstGeom prst="triangle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366760" y="4425789"/>
            <a:ext cx="3840480" cy="2468880"/>
          </a:xfrm>
          <a:prstGeom prst="triangl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34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Mapping used in the code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10652760" cy="640080"/>
          </a:xfrm>
          <a:prstGeom prst="round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139696"/>
            <a:ext cx="384048" cy="384048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176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Pre-Engineering (2)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76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or Engineering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2788920"/>
            <a:ext cx="10652760" cy="640080"/>
          </a:xfrm>
          <a:prstGeom prst="round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916936"/>
            <a:ext cx="384048" cy="384048"/>
          </a:xfrm>
          <a:prstGeom prst="roundRect">
            <a:avLst/>
          </a:prstGeom>
          <a:solidFill>
            <a:srgbClr val="12B5E5"/>
          </a:solidFill>
          <a:ln w="12700">
            <a:solidFill>
              <a:srgbClr val="12B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953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ICS (3)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953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or Engineering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10652760" cy="640080"/>
          </a:xfrm>
          <a:prstGeom prst="round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694176"/>
            <a:ext cx="384048" cy="38404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3730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Commerce (5)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730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(BBA)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4343400"/>
            <a:ext cx="10652760" cy="640080"/>
          </a:xfrm>
          <a:prstGeom prst="round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4471416"/>
            <a:ext cx="384048" cy="38404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507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Arts (4)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4507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Arts / Social Sciences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7240" y="5120640"/>
            <a:ext cx="10652760" cy="640080"/>
          </a:xfrm>
          <a:prstGeom prst="round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248656"/>
            <a:ext cx="384048" cy="384048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5285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Pre-Medical (1)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5285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Arts or Business (fallback)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This is a suggestion only — final selection still follows program criteria.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Program Selection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7087" y="731521"/>
            <a:ext cx="3108960" cy="2011680"/>
          </a:xfrm>
          <a:prstGeom prst="triangle">
            <a:avLst/>
          </a:prstGeom>
          <a:solidFill>
            <a:srgbClr val="12B5E5">
              <a:alpha val="88000"/>
            </a:srgbClr>
          </a:solidFill>
          <a:ln w="12700">
            <a:solidFill>
              <a:srgbClr val="12B5E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365559" y="4440243"/>
            <a:ext cx="3840480" cy="2468880"/>
          </a:xfrm>
          <a:prstGeom prst="triangl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897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Tip:</a:t>
            </a:r>
            <a:endParaRPr lang="en-US" sz="14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C3CEE6A-EB73-B9D3-B397-B544D74A94E3}"/>
              </a:ext>
            </a:extLst>
          </p:cNvPr>
          <p:cNvGrpSpPr/>
          <p:nvPr/>
        </p:nvGrpSpPr>
        <p:grpSpPr>
          <a:xfrm>
            <a:off x="320040" y="1412748"/>
            <a:ext cx="11567160" cy="5166360"/>
            <a:chOff x="777240" y="1417320"/>
            <a:chExt cx="11567160" cy="5166360"/>
          </a:xfrm>
        </p:grpSpPr>
        <p:sp>
          <p:nvSpPr>
            <p:cNvPr id="8" name="Shape 6"/>
            <p:cNvSpPr/>
            <p:nvPr/>
          </p:nvSpPr>
          <p:spPr>
            <a:xfrm>
              <a:off x="777240" y="1417320"/>
              <a:ext cx="5577840" cy="2331720"/>
            </a:xfrm>
            <a:prstGeom prst="roundRect">
              <a:avLst/>
            </a:prstGeom>
            <a:solidFill>
              <a:srgbClr val="FFFFFF">
                <a:alpha val="95000"/>
              </a:srgbClr>
            </a:solidFill>
            <a:ln w="12700">
              <a:solidFill>
                <a:srgbClr val="FFFFFF">
                  <a:alpha val="25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1097280" y="1536192"/>
              <a:ext cx="4937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Computer Science</a:t>
              </a:r>
              <a:endParaRPr lang="en-US" sz="1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34440" y="2194560"/>
              <a:ext cx="4846320" cy="1040511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47650" indent="-247650">
                <a:spcAft>
                  <a:spcPts val="200"/>
                </a:spcAft>
                <a:buSzPct val="100000"/>
                <a:buChar char="•"/>
              </a:pPr>
              <a:r>
                <a:rPr lang="en-US" sz="15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Inter ≥ 60%</a:t>
              </a:r>
              <a:endParaRPr lang="en-US" sz="1550" dirty="0"/>
            </a:p>
            <a:p>
              <a:pPr marL="247650" indent="-247650">
                <a:spcAft>
                  <a:spcPts val="200"/>
                </a:spcAft>
                <a:buSzPct val="100000"/>
                <a:buChar char="•"/>
              </a:pPr>
              <a:r>
                <a:rPr lang="en-US" sz="15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Test ≥ 55%</a:t>
              </a:r>
              <a:endParaRPr lang="en-US" sz="15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766560" y="1417320"/>
              <a:ext cx="5577840" cy="2331720"/>
            </a:xfrm>
            <a:prstGeom prst="roundRect">
              <a:avLst/>
            </a:prstGeom>
            <a:solidFill>
              <a:srgbClr val="FFFFFF">
                <a:alpha val="95000"/>
              </a:srgbClr>
            </a:solidFill>
            <a:ln w="12700">
              <a:solidFill>
                <a:srgbClr val="FFFFFF">
                  <a:alpha val="25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6766560" y="1417320"/>
              <a:ext cx="5577840" cy="502920"/>
            </a:xfrm>
            <a:prstGeom prst="rect">
              <a:avLst/>
            </a:prstGeom>
            <a:solidFill>
              <a:srgbClr val="F97316">
                <a:alpha val="92000"/>
              </a:srgbClr>
            </a:solidFill>
            <a:ln w="12700">
              <a:solidFill>
                <a:srgbClr val="F97316">
                  <a:alpha val="0"/>
                </a:srgbClr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086600" y="1536192"/>
              <a:ext cx="4937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Engineering</a:t>
              </a:r>
              <a:endParaRPr lang="en-US" sz="1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223760" y="2194560"/>
              <a:ext cx="4846320" cy="152082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47650" indent="-247650">
                <a:spcAft>
                  <a:spcPts val="200"/>
                </a:spcAft>
                <a:buSzPct val="100000"/>
                <a:buChar char="•"/>
              </a:pPr>
              <a:r>
                <a:rPr lang="en-US" sz="15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Age ≤ 23</a:t>
              </a:r>
              <a:endParaRPr lang="en-US" sz="1550" dirty="0"/>
            </a:p>
            <a:p>
              <a:pPr marL="247650" indent="-247650">
                <a:spcAft>
                  <a:spcPts val="200"/>
                </a:spcAft>
                <a:buSzPct val="100000"/>
                <a:buChar char="•"/>
              </a:pPr>
              <a:r>
                <a:rPr lang="en-US" sz="15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Stream = Pre-Engineering</a:t>
              </a:r>
              <a:endParaRPr lang="en-US" sz="1550" dirty="0"/>
            </a:p>
            <a:p>
              <a:pPr marL="247650" indent="-247650">
                <a:spcAft>
                  <a:spcPts val="200"/>
                </a:spcAft>
                <a:buSzPct val="100000"/>
                <a:buChar char="•"/>
              </a:pPr>
              <a:r>
                <a:rPr lang="en-US" sz="15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Inter ≥ 65%</a:t>
              </a:r>
              <a:endParaRPr lang="en-US" sz="1550" dirty="0"/>
            </a:p>
            <a:p>
              <a:pPr marL="247650" indent="-247650">
                <a:spcAft>
                  <a:spcPts val="200"/>
                </a:spcAft>
                <a:buSzPct val="100000"/>
                <a:buChar char="•"/>
              </a:pPr>
              <a:r>
                <a:rPr lang="en-US" sz="15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Test ≥ 60%</a:t>
              </a:r>
              <a:endParaRPr lang="en-US" sz="15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77240" y="4251960"/>
              <a:ext cx="5577840" cy="2331720"/>
            </a:xfrm>
            <a:prstGeom prst="roundRect">
              <a:avLst/>
            </a:prstGeom>
            <a:solidFill>
              <a:srgbClr val="FFFFFF">
                <a:alpha val="95000"/>
              </a:srgbClr>
            </a:solidFill>
            <a:ln w="12700">
              <a:solidFill>
                <a:srgbClr val="FFFFFF">
                  <a:alpha val="25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777240" y="4251960"/>
              <a:ext cx="5577840" cy="502920"/>
            </a:xfrm>
            <a:prstGeom prst="rect">
              <a:avLst/>
            </a:prstGeom>
            <a:solidFill>
              <a:srgbClr val="22C55E">
                <a:alpha val="92000"/>
              </a:srgbClr>
            </a:solidFill>
            <a:ln w="12700">
              <a:solidFill>
                <a:srgbClr val="22C55E">
                  <a:alpha val="0"/>
                </a:srgbClr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1097280" y="4370832"/>
              <a:ext cx="4937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Business (BBA)</a:t>
              </a:r>
              <a:endParaRPr lang="en-US" sz="1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234440" y="5029200"/>
              <a:ext cx="4846320" cy="1040511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47650" indent="-247650">
                <a:spcAft>
                  <a:spcPts val="200"/>
                </a:spcAft>
                <a:buSzPct val="100000"/>
                <a:buChar char="•"/>
              </a:pPr>
              <a:r>
                <a:rPr lang="en-US" sz="15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Inter ≥ 55%</a:t>
              </a:r>
              <a:endParaRPr lang="en-US" sz="1550" dirty="0"/>
            </a:p>
            <a:p>
              <a:pPr marL="247650" indent="-247650">
                <a:spcAft>
                  <a:spcPts val="200"/>
                </a:spcAft>
                <a:buSzPct val="100000"/>
                <a:buChar char="•"/>
              </a:pPr>
              <a:r>
                <a:rPr lang="en-US" sz="15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Test ≥ 50%</a:t>
              </a:r>
              <a:endParaRPr lang="en-US" sz="15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766560" y="4251960"/>
              <a:ext cx="5577840" cy="2331720"/>
            </a:xfrm>
            <a:prstGeom prst="roundRect">
              <a:avLst/>
            </a:prstGeom>
            <a:solidFill>
              <a:srgbClr val="FFFFFF">
                <a:alpha val="95000"/>
              </a:srgbClr>
            </a:solidFill>
            <a:ln w="12700">
              <a:solidFill>
                <a:srgbClr val="FFFFFF">
                  <a:alpha val="25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6766560" y="4251960"/>
              <a:ext cx="5577840" cy="502920"/>
            </a:xfrm>
            <a:prstGeom prst="rect">
              <a:avLst/>
            </a:prstGeom>
            <a:solidFill>
              <a:srgbClr val="7C3AED">
                <a:alpha val="92000"/>
              </a:srgbClr>
            </a:solidFill>
            <a:ln w="12700">
              <a:solidFill>
                <a:srgbClr val="7C3AED">
                  <a:alpha val="0"/>
                </a:srgbClr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086600" y="4370832"/>
              <a:ext cx="4937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Arts</a:t>
              </a:r>
              <a:endParaRPr lang="en-US" sz="18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223760" y="5029200"/>
              <a:ext cx="4846320" cy="80035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47650" indent="-247650">
                <a:spcAft>
                  <a:spcPts val="200"/>
                </a:spcAft>
                <a:buSzPct val="100000"/>
                <a:buChar char="•"/>
              </a:pPr>
              <a:r>
                <a:rPr lang="en-US" sz="15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Inter ≥ 45%</a:t>
              </a:r>
              <a:endParaRPr lang="en-US" sz="15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77240" y="5715000"/>
              <a:ext cx="11384280" cy="868680"/>
            </a:xfrm>
            <a:prstGeom prst="roundRect">
              <a:avLst/>
            </a:prstGeom>
            <a:solidFill>
              <a:srgbClr val="FFFFFF">
                <a:alpha val="92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1600200" y="5897880"/>
              <a:ext cx="10241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Engineering has extra constraints (age + stream) before checking percentages.</a:t>
              </a:r>
              <a:endParaRPr lang="en-US" sz="14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320040" y="1412748"/>
            <a:ext cx="5577840" cy="502920"/>
          </a:xfrm>
          <a:prstGeom prst="rect">
            <a:avLst/>
          </a:prstGeom>
          <a:solidFill>
            <a:srgbClr val="12B5E5">
              <a:alpha val="92000"/>
            </a:srgbClr>
          </a:solidFill>
          <a:ln w="12700">
            <a:solidFill>
              <a:srgbClr val="12B5E5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Aptos Display" pitchFamily="34" charset="0"/>
              </a:rPr>
              <a:t>Computer Science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requirements by program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80" y="731520"/>
            <a:ext cx="3108960" cy="2011680"/>
          </a:xfrm>
          <a:prstGeom prst="triangle">
            <a:avLst/>
          </a:prstGeom>
          <a:solidFill>
            <a:srgbClr val="0EA5E9">
              <a:alpha val="8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34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 &amp; Entry Test minimums </a:t>
            </a:r>
            <a:endParaRPr lang="en-US" sz="3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77240" y="1965960"/>
          <a:ext cx="11384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6510528"/>
            <a:ext cx="11384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Arts has no test threshold in the current implementation (0 shown).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Merit Calculation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assignment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8011" y="768096"/>
            <a:ext cx="3108960" cy="2011680"/>
          </a:xfrm>
          <a:prstGeom prst="triangle">
            <a:avLst/>
          </a:prstGeom>
          <a:solidFill>
            <a:srgbClr val="22C55E">
              <a:alpha val="8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394192" y="4407224"/>
            <a:ext cx="3840480" cy="2468880"/>
          </a:xfrm>
          <a:prstGeom prst="triangl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06408A1-2A8B-C9B7-7779-8719717FBFD7}"/>
              </a:ext>
            </a:extLst>
          </p:cNvPr>
          <p:cNvGrpSpPr/>
          <p:nvPr/>
        </p:nvGrpSpPr>
        <p:grpSpPr>
          <a:xfrm>
            <a:off x="324658" y="1211580"/>
            <a:ext cx="11384280" cy="5440680"/>
            <a:chOff x="777240" y="1417320"/>
            <a:chExt cx="11384280" cy="5440680"/>
          </a:xfrm>
        </p:grpSpPr>
        <p:sp>
          <p:nvSpPr>
            <p:cNvPr id="8" name="Shape 6"/>
            <p:cNvSpPr/>
            <p:nvPr/>
          </p:nvSpPr>
          <p:spPr>
            <a:xfrm>
              <a:off x="777240" y="1417320"/>
              <a:ext cx="5715000" cy="5440680"/>
            </a:xfrm>
            <a:prstGeom prst="roundRect">
              <a:avLst/>
            </a:prstGeom>
            <a:solidFill>
              <a:srgbClr val="FFFFFF">
                <a:alpha val="95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1143000" y="1691640"/>
              <a:ext cx="52120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Formula</a:t>
              </a:r>
              <a:endParaRPr lang="en-US" sz="2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143000" y="2331720"/>
              <a:ext cx="5166360" cy="1051560"/>
            </a:xfrm>
            <a:prstGeom prst="roundRect">
              <a:avLst/>
            </a:prstGeom>
            <a:solidFill>
              <a:srgbClr val="0B1220">
                <a:alpha val="96000"/>
              </a:srgbClr>
            </a:solidFill>
            <a:ln w="12700">
              <a:solidFill>
                <a:srgbClr val="0B1220">
                  <a:alpha val="0"/>
                </a:srgbClr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325880" y="2615184"/>
              <a:ext cx="4800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merit = (inter + test) / 2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143000" y="3657600"/>
              <a:ext cx="5212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Merit Categories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143000" y="4160520"/>
              <a:ext cx="5166360" cy="502920"/>
            </a:xfrm>
            <a:prstGeom prst="roundRect">
              <a:avLst/>
            </a:prstGeom>
            <a:solidFill>
              <a:srgbClr val="22C55E">
                <a:alpha val="12000"/>
              </a:srgbClr>
            </a:solidFill>
            <a:ln w="12700">
              <a:solidFill>
                <a:srgbClr val="22C55E">
                  <a:alpha val="45000"/>
                </a:srgbClr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325880" y="4288536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Open Merit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92040" y="4288536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≥ 80</a:t>
              </a:r>
              <a:endParaRPr lang="en-US" sz="14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143000" y="4800600"/>
              <a:ext cx="5166360" cy="502920"/>
            </a:xfrm>
            <a:prstGeom prst="roundRect">
              <a:avLst/>
            </a:prstGeom>
            <a:solidFill>
              <a:srgbClr val="0EA5E9">
                <a:alpha val="12000"/>
              </a:srgbClr>
            </a:solidFill>
            <a:ln w="12700">
              <a:solidFill>
                <a:srgbClr val="0EA5E9">
                  <a:alpha val="45000"/>
                </a:srgbClr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325880" y="4928616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2nd Merit List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892040" y="4928616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70–79.99</a:t>
              </a:r>
              <a:endParaRPr lang="en-US" sz="14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143000" y="5440680"/>
              <a:ext cx="5166360" cy="502920"/>
            </a:xfrm>
            <a:prstGeom prst="roundRect">
              <a:avLst/>
            </a:prstGeom>
            <a:solidFill>
              <a:srgbClr val="F97316">
                <a:alpha val="12000"/>
              </a:srgbClr>
            </a:solidFill>
            <a:ln w="12700">
              <a:solidFill>
                <a:srgbClr val="F97316">
                  <a:alpha val="45000"/>
                </a:srgbClr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1325880" y="5568696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Self Finance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892040" y="5568696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60–69.99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143000" y="6080760"/>
              <a:ext cx="5166360" cy="502920"/>
            </a:xfrm>
            <a:prstGeom prst="roundRect">
              <a:avLst/>
            </a:prstGeom>
            <a:solidFill>
              <a:srgbClr val="EF4444">
                <a:alpha val="12000"/>
              </a:srgbClr>
            </a:solidFill>
            <a:ln w="12700">
              <a:solidFill>
                <a:srgbClr val="EF4444">
                  <a:alpha val="45000"/>
                </a:srgbClr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1325880" y="6208776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Not Selected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892040" y="6208776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&lt; 60</a:t>
              </a:r>
              <a:endParaRPr lang="en-US" sz="1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720840" y="1417320"/>
              <a:ext cx="5440680" cy="5440680"/>
            </a:xfrm>
            <a:prstGeom prst="roundRect">
              <a:avLst/>
            </a:prstGeom>
            <a:solidFill>
              <a:srgbClr val="FFFFFF">
                <a:alpha val="93000"/>
              </a:srgbClr>
            </a:solidFill>
            <a:ln w="12700">
              <a:solidFill>
                <a:srgbClr val="FFFFFF">
                  <a:alpha val="25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6" name="Text 24"/>
            <p:cNvSpPr/>
            <p:nvPr/>
          </p:nvSpPr>
          <p:spPr>
            <a:xfrm>
              <a:off x="7086600" y="1691640"/>
              <a:ext cx="4800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Example (for understanding)</a:t>
              </a:r>
              <a:endParaRPr lang="en-US" sz="2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086600" y="2240280"/>
              <a:ext cx="4800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Inter = 72%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Test = 66%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086600" y="2971800"/>
              <a:ext cx="4800600" cy="960120"/>
            </a:xfrm>
            <a:prstGeom prst="roundRect">
              <a:avLst/>
            </a:prstGeom>
            <a:solidFill>
              <a:srgbClr val="22C55E">
                <a:alpha val="14000"/>
              </a:srgbClr>
            </a:solidFill>
            <a:ln w="12700">
              <a:solidFill>
                <a:srgbClr val="22C55E">
                  <a:alpha val="45000"/>
                </a:srgbClr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360920" y="3246120"/>
              <a:ext cx="45262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Merit = (72 + 66) / 2 = 69%</a:t>
              </a:r>
              <a:endParaRPr lang="en-US" sz="18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360920" y="3639312"/>
              <a:ext cx="4526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Category → Self Finance</a:t>
              </a:r>
              <a:endParaRPr lang="en-US" sz="14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086600" y="4297680"/>
              <a:ext cx="4800600" cy="99402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Merit is independent of selected program</a:t>
              </a:r>
              <a:endParaRPr lang="en-US" sz="1450" dirty="0"/>
            </a:p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Used for list category + hostel priority</a:t>
              </a:r>
              <a:endParaRPr lang="en-US" sz="145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 / Scholarship Decision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Affordability logic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5745" y="710276"/>
            <a:ext cx="3108960" cy="2011680"/>
          </a:xfrm>
          <a:prstGeom prst="triangle">
            <a:avLst/>
          </a:prstGeom>
          <a:solidFill>
            <a:srgbClr val="F97316">
              <a:alpha val="8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288159" y="4421124"/>
            <a:ext cx="3840480" cy="2468880"/>
          </a:xfrm>
          <a:prstGeom prst="triangl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34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rules (as implemented)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80160" y="2542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Merit Scholarship</a:t>
            </a:r>
            <a:endParaRPr lang="en-US" sz="16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F3D93B-5EC2-28F0-7498-38331F7DD8A1}"/>
              </a:ext>
            </a:extLst>
          </p:cNvPr>
          <p:cNvGrpSpPr/>
          <p:nvPr/>
        </p:nvGrpSpPr>
        <p:grpSpPr>
          <a:xfrm>
            <a:off x="261389" y="2124364"/>
            <a:ext cx="3749040" cy="4251960"/>
            <a:chOff x="777240" y="2148840"/>
            <a:chExt cx="3749040" cy="4251960"/>
          </a:xfrm>
        </p:grpSpPr>
        <p:sp>
          <p:nvSpPr>
            <p:cNvPr id="9" name="Shape 7"/>
            <p:cNvSpPr/>
            <p:nvPr/>
          </p:nvSpPr>
          <p:spPr>
            <a:xfrm>
              <a:off x="777240" y="2148840"/>
              <a:ext cx="3749040" cy="4251960"/>
            </a:xfrm>
            <a:prstGeom prst="roundRect">
              <a:avLst/>
            </a:prstGeom>
            <a:solidFill>
              <a:srgbClr val="FFFFFF">
                <a:alpha val="94000"/>
              </a:srgbClr>
            </a:solidFill>
            <a:ln w="12700">
              <a:solidFill>
                <a:srgbClr val="FFFFFF">
                  <a:alpha val="25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97280" y="2423160"/>
              <a:ext cx="3108960" cy="502920"/>
            </a:xfrm>
            <a:prstGeom prst="roundRect">
              <a:avLst/>
            </a:prstGeom>
            <a:solidFill>
              <a:srgbClr val="22C55E">
                <a:alpha val="92000"/>
              </a:srgbClr>
            </a:solidFill>
            <a:ln w="12700">
              <a:solidFill>
                <a:srgbClr val="22C55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r>
                <a:rPr lang="en-US" b="1" dirty="0">
                  <a:solidFill>
                    <a:srgbClr val="FFFFFF"/>
                  </a:solidFill>
                  <a:latin typeface="Aptos Display" pitchFamily="34" charset="0"/>
                </a:rPr>
                <a:t>Merit Scholarship</a:t>
              </a:r>
              <a:endParaRPr lang="en-US" dirty="0"/>
            </a:p>
            <a:p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97280" y="310896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Rule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097280" y="3337560"/>
              <a:ext cx="31089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Inter ≥ 85% AND Test ≥ 70%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97280" y="416052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Outcome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097280" y="4389120"/>
              <a:ext cx="31089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Highest academic support.</a:t>
              </a:r>
              <a:endParaRPr lang="en-US" sz="14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4320494" y="2124364"/>
            <a:ext cx="3749040" cy="425196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32120" y="2542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Need-based Aid</a:t>
            </a:r>
            <a:endParaRPr lang="en-US" sz="16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FEF708B-22B6-7913-A29A-3D228E729F2F}"/>
              </a:ext>
            </a:extLst>
          </p:cNvPr>
          <p:cNvGrpSpPr/>
          <p:nvPr/>
        </p:nvGrpSpPr>
        <p:grpSpPr>
          <a:xfrm>
            <a:off x="4590288" y="2398684"/>
            <a:ext cx="3108960" cy="2606040"/>
            <a:chOff x="5349240" y="2423160"/>
            <a:chExt cx="3108960" cy="2606040"/>
          </a:xfrm>
        </p:grpSpPr>
        <p:sp>
          <p:nvSpPr>
            <p:cNvPr id="17" name="Shape 15"/>
            <p:cNvSpPr/>
            <p:nvPr/>
          </p:nvSpPr>
          <p:spPr>
            <a:xfrm>
              <a:off x="5349240" y="2423160"/>
              <a:ext cx="3108960" cy="502920"/>
            </a:xfrm>
            <a:prstGeom prst="roundRect">
              <a:avLst/>
            </a:prstGeom>
            <a:solidFill>
              <a:srgbClr val="0EA5E9">
                <a:alpha val="92000"/>
              </a:srgbClr>
            </a:solidFill>
            <a:ln w="12700">
              <a:solidFill>
                <a:srgbClr val="0EA5E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r>
                <a:rPr lang="en-US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Need-based Aid</a:t>
              </a:r>
              <a:endParaRPr lang="en-US" dirty="0"/>
            </a:p>
            <a:p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349240" y="310896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Rule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349240" y="3337560"/>
              <a:ext cx="31089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Income ≤ 80,000 AND Merit ≥ 70%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349240" y="416052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Outcome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349240" y="4389120"/>
              <a:ext cx="31089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Financial assistance based on merit + income.</a:t>
              </a:r>
              <a:endParaRPr lang="en-US" sz="14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C3C0257-D22A-4722-F5F2-C6164B04FBCE}"/>
              </a:ext>
            </a:extLst>
          </p:cNvPr>
          <p:cNvGrpSpPr/>
          <p:nvPr/>
        </p:nvGrpSpPr>
        <p:grpSpPr>
          <a:xfrm>
            <a:off x="8379599" y="2124364"/>
            <a:ext cx="3749040" cy="4251960"/>
            <a:chOff x="9281160" y="2148840"/>
            <a:chExt cx="3749040" cy="4251960"/>
          </a:xfrm>
        </p:grpSpPr>
        <p:sp>
          <p:nvSpPr>
            <p:cNvPr id="23" name="Shape 21"/>
            <p:cNvSpPr/>
            <p:nvPr/>
          </p:nvSpPr>
          <p:spPr>
            <a:xfrm>
              <a:off x="9281160" y="2148840"/>
              <a:ext cx="3749040" cy="4251960"/>
            </a:xfrm>
            <a:prstGeom prst="roundRect">
              <a:avLst/>
            </a:prstGeom>
            <a:solidFill>
              <a:srgbClr val="FFFFFF">
                <a:alpha val="94000"/>
              </a:srgbClr>
            </a:solidFill>
            <a:ln w="12700">
              <a:solidFill>
                <a:srgbClr val="FFFFFF">
                  <a:alpha val="25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9601200" y="2423160"/>
              <a:ext cx="3108960" cy="502920"/>
            </a:xfrm>
            <a:prstGeom prst="roundRect">
              <a:avLst/>
            </a:prstGeom>
            <a:solidFill>
              <a:srgbClr val="F97316">
                <a:alpha val="92000"/>
              </a:srgbClr>
            </a:solidFill>
            <a:ln w="12700">
              <a:solidFill>
                <a:srgbClr val="F97316">
                  <a:alpha val="0"/>
                </a:srgbClr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9784080" y="2542032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Normal Fee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9601200" y="310896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Rule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9601200" y="3337560"/>
              <a:ext cx="31089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Otherwise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9601200" y="416052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B122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Outcome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9601200" y="4389120"/>
              <a:ext cx="31089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3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Standard fee applies.</a:t>
              </a:r>
              <a:endParaRPr lang="en-US" sz="1400" dirty="0"/>
            </a:p>
          </p:txBody>
        </p:sp>
      </p:grp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Hostel &amp; Document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Post-selection outputs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80" y="749808"/>
            <a:ext cx="3108960" cy="2011680"/>
          </a:xfrm>
          <a:prstGeom prst="triangle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351520" y="4433916"/>
            <a:ext cx="3840480" cy="2468880"/>
          </a:xfrm>
          <a:prstGeom prst="triangle">
            <a:avLst/>
          </a:prstGeom>
          <a:solidFill>
            <a:srgbClr val="12B5E5">
              <a:alpha val="85000"/>
            </a:srgbClr>
          </a:solidFill>
          <a:ln w="12700">
            <a:solidFill>
              <a:srgbClr val="12B5E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669280" cy="544068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Hostel status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5303520" cy="1311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Non‑Local = Y → Hostel Eligible</a:t>
            </a:r>
            <a:endParaRPr lang="en-US" sz="16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Merit ≥ 80 → Priority: High</a:t>
            </a:r>
            <a:endParaRPr lang="en-US" sz="16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Otherwise → Hostel Not Eligible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4434840"/>
            <a:ext cx="5166360" cy="2011680"/>
          </a:xfrm>
          <a:prstGeom prst="round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663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49834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Prioritizing high-merit non-local students supports fair allocation of limited hostel seats.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720840" y="1417320"/>
            <a:ext cx="5440680" cy="544068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86600" y="16916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documents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86600" y="2331720"/>
            <a:ext cx="4800600" cy="2179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CNIC / B‑Form</a:t>
            </a:r>
            <a:endParaRPr lang="en-US" sz="1500" dirty="0"/>
          </a:p>
          <a:p>
            <a:pPr marL="241300" indent="-2413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Passport-size photographs</a:t>
            </a:r>
            <a:endParaRPr lang="en-US" sz="1500" dirty="0"/>
          </a:p>
          <a:p>
            <a:pPr marL="241300" indent="-2413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 certificate</a:t>
            </a:r>
            <a:endParaRPr lang="en-US" sz="1500" dirty="0"/>
          </a:p>
          <a:p>
            <a:pPr marL="241300" indent="-2413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certificate</a:t>
            </a:r>
            <a:endParaRPr lang="en-US" sz="1500" dirty="0"/>
          </a:p>
          <a:p>
            <a:pPr marL="241300" indent="-2413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test result</a:t>
            </a:r>
            <a:endParaRPr lang="en-US" sz="1500" dirty="0"/>
          </a:p>
          <a:p>
            <a:pPr marL="241300" indent="-2413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Domicile certificate</a:t>
            </a:r>
            <a:endParaRPr lang="en-US" sz="1500" dirty="0"/>
          </a:p>
          <a:p>
            <a:pPr marL="241300" indent="-2413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certificate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Working Logic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decision blocks</a:t>
            </a:r>
            <a:endParaRPr lang="en-US" sz="1200" dirty="0"/>
          </a:p>
        </p:txBody>
      </p:sp>
      <p:pic>
        <p:nvPicPr>
          <p:cNvPr id="5" name="Image 0" descr="/mnt/data/computer_lab.jpg"/>
          <p:cNvPicPr>
            <a:picLocks noChangeAspect="1"/>
          </p:cNvPicPr>
          <p:nvPr/>
        </p:nvPicPr>
        <p:blipFill>
          <a:blip r:embed="rId3"/>
          <a:srcRect t="12416" b="12416"/>
          <a:stretch/>
        </p:blipFill>
        <p:spPr>
          <a:xfrm>
            <a:off x="0" y="749808"/>
            <a:ext cx="12188952" cy="6108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749808"/>
            <a:ext cx="12188952" cy="6108192"/>
          </a:xfrm>
          <a:prstGeom prst="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480" y="685800"/>
            <a:ext cx="3108960" cy="2011680"/>
          </a:xfrm>
          <a:prstGeom prst="triangle">
            <a:avLst/>
          </a:prstGeom>
          <a:solidFill>
            <a:srgbClr val="22C55E">
              <a:alpha val="8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10800000">
            <a:off x="8321040" y="4434840"/>
            <a:ext cx="3840480" cy="2468880"/>
          </a:xfrm>
          <a:prstGeom prst="triangl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417320"/>
            <a:ext cx="11384280" cy="5440680"/>
          </a:xfrm>
          <a:prstGeom prst="round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6916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Readable snippet (simplified)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097280" y="2240280"/>
            <a:ext cx="10789920" cy="4389120"/>
          </a:xfrm>
          <a:prstGeom prst="roundRect">
            <a:avLst/>
          </a:prstGeom>
          <a:solidFill>
            <a:srgbClr val="0B1220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246888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Stage 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&lt; 17 || inter &lt; 50) exit();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Stage 2 (example: Engineering)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&gt; 23) reject();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(stream != PRE_ENG) reject();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(inter &gt;= 65 &amp;&amp; test &gt;= 60) select();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Merit + aid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merit = (inter + test) / 2;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(inter &gt;= 85 &amp;&amp; test &gt;= 70) scholarship();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(income &lt;= 80000 &amp;&amp; merit &gt;= 70) aid();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Scenarios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35440" y="201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users see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776296"/>
            <a:ext cx="12188952" cy="6108192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3108960" cy="2011680"/>
          </a:xfrm>
          <a:prstGeom prst="triangle">
            <a:avLst/>
          </a:prstGeom>
          <a:solidFill>
            <a:srgbClr val="12B5E5">
              <a:alpha val="88000"/>
            </a:srgbClr>
          </a:solidFill>
          <a:ln w="12700">
            <a:solidFill>
              <a:srgbClr val="12B5E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8351520" y="4389120"/>
            <a:ext cx="3840480" cy="2468880"/>
          </a:xfrm>
          <a:prstGeom prst="triangl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344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A (successful)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17190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19 | Inter 72 | Test 66 | Stream: ICS | Program: CS | Non-local: Y | Income: 70,000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B (rejected)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03720" y="171907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24 | Inter 78 | Test 70 | Stream: Pre-Engineering | Program: Engineering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87776" y="2193524"/>
            <a:ext cx="5468112" cy="452628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9312" y="2193524"/>
            <a:ext cx="5760720" cy="452628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9352" y="2467844"/>
            <a:ext cx="5303520" cy="1668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4950" indent="-23495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1: Passed</a:t>
            </a:r>
            <a:endParaRPr lang="en-US" sz="1450" dirty="0"/>
          </a:p>
          <a:p>
            <a:pPr marL="234950" indent="-23495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CS: Selected (72 ≥ 60 and 66 ≥ 55)</a:t>
            </a:r>
            <a:endParaRPr lang="en-US" sz="1450" dirty="0"/>
          </a:p>
          <a:p>
            <a:pPr marL="234950" indent="-23495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Merit: 69% → Self Finance</a:t>
            </a:r>
            <a:endParaRPr lang="en-US" sz="1450" dirty="0"/>
          </a:p>
          <a:p>
            <a:pPr marL="234950" indent="-23495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Fee: Normal (no scholarship/aid)</a:t>
            </a:r>
            <a:endParaRPr lang="en-US" sz="1450" dirty="0"/>
          </a:p>
          <a:p>
            <a:pPr marL="234950" indent="-23495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Hostel: Eligible (Non-local Y)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09352" y="6098012"/>
            <a:ext cx="5303520" cy="457200"/>
          </a:xfrm>
          <a:prstGeom prst="round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512" y="62077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Aid requires Merit ≥ 70; scenario A gets Normal Fee.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52952" y="2467844"/>
            <a:ext cx="4937760" cy="14433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34950" indent="-23495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1: Passed</a:t>
            </a:r>
            <a:endParaRPr lang="en-US" sz="1450" dirty="0"/>
          </a:p>
          <a:p>
            <a:pPr marL="234950" indent="-23495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Engineering: Rejected (age must be ≤ 23)</a:t>
            </a:r>
            <a:endParaRPr lang="en-US" sz="1450" dirty="0"/>
          </a:p>
          <a:p>
            <a:pPr marL="234950" indent="-23495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Merit still calculated for reporting</a:t>
            </a:r>
            <a:endParaRPr lang="en-US" sz="1450" dirty="0"/>
          </a:p>
          <a:p>
            <a:pPr marL="234950" indent="-23495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23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Scholarship depends on Inter/Test thresholds</a:t>
            </a:r>
            <a:endParaRPr lang="en-US" sz="145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0" cy="2011680"/>
          </a:xfrm>
          <a:prstGeom prst="triangle">
            <a:avLst/>
          </a:prstGeom>
          <a:solidFill>
            <a:srgbClr val="22C55E">
              <a:alpha val="8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8321040" y="4297680"/>
            <a:ext cx="3840480" cy="2468880"/>
          </a:xfrm>
          <a:prstGeom prst="triangl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rule-based admission workflow with clear outcomes</a:t>
            </a:r>
            <a:endParaRPr lang="en-US" sz="1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49199C-8F02-DB7C-E4D0-2CE98BF90EB6}"/>
              </a:ext>
            </a:extLst>
          </p:cNvPr>
          <p:cNvGrpSpPr/>
          <p:nvPr/>
        </p:nvGrpSpPr>
        <p:grpSpPr>
          <a:xfrm>
            <a:off x="388620" y="2194560"/>
            <a:ext cx="11411712" cy="4114800"/>
            <a:chOff x="777240" y="2194560"/>
            <a:chExt cx="11411712" cy="4114800"/>
          </a:xfrm>
        </p:grpSpPr>
        <p:sp>
          <p:nvSpPr>
            <p:cNvPr id="7" name="Shape 5"/>
            <p:cNvSpPr/>
            <p:nvPr/>
          </p:nvSpPr>
          <p:spPr>
            <a:xfrm>
              <a:off x="777240" y="2194560"/>
              <a:ext cx="5669280" cy="4114800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12700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1143000" y="2423160"/>
              <a:ext cx="51206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Key Achievements</a:t>
              </a:r>
              <a:endParaRPr lang="en-US" sz="2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143000" y="2880360"/>
              <a:ext cx="5212080" cy="144335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Two-stage eligibility + selection</a:t>
              </a:r>
              <a:endParaRPr lang="en-US" sz="1450" dirty="0"/>
            </a:p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Program-specific constraints (incl. engineering stream + age)</a:t>
              </a:r>
              <a:endParaRPr lang="en-US" sz="1450" dirty="0"/>
            </a:p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Merit categories, aid rules, hostel decisions, and document checklist</a:t>
              </a:r>
              <a:endParaRPr lang="en-US" sz="1450" dirty="0"/>
            </a:p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User-friendly console outputs with clear reasons for rejection</a:t>
              </a:r>
              <a:endParaRPr lang="en-US" sz="14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720840" y="2194560"/>
              <a:ext cx="5468112" cy="4114800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12700">
              <a:solidFill>
                <a:srgbClr val="FFFFFF">
                  <a:alpha val="30000"/>
                </a:srgbClr>
              </a:solidFill>
              <a:prstDash val="solid"/>
            </a:ln>
            <a:effectLst>
              <a:outerShdw blurRad="76200" dist="254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7086600" y="2423160"/>
              <a:ext cx="48006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Future Enhancements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086600" y="2880360"/>
              <a:ext cx="4800600" cy="166801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GUI application (desktop/web) with form validation</a:t>
              </a:r>
              <a:endParaRPr lang="en-US" sz="1450" dirty="0"/>
            </a:p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Database integration for applicants &amp; merit lists</a:t>
              </a:r>
              <a:endParaRPr lang="en-US" sz="1450" dirty="0"/>
            </a:p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Config file for thresholds (no recompilation)</a:t>
              </a:r>
              <a:endParaRPr lang="en-US" sz="1450" dirty="0"/>
            </a:p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Include Matric % in merit weighting if required</a:t>
              </a:r>
              <a:endParaRPr lang="en-US" sz="1450" dirty="0"/>
            </a:p>
            <a:p>
              <a:pPr marL="234950" indent="-234950">
                <a:spcAft>
                  <a:spcPts val="200"/>
                </a:spcAft>
                <a:buSzPct val="100000"/>
                <a:buChar char="•"/>
              </a:pPr>
              <a:r>
                <a:rPr lang="en-US" sz="1450" dirty="0">
                  <a:latin typeface="Aptos" pitchFamily="34" charset="0"/>
                  <a:ea typeface="Aptos" pitchFamily="34" charset="-122"/>
                  <a:cs typeface="Aptos" pitchFamily="34" charset="-120"/>
                </a:rPr>
                <a:t>Generate printable admission letters / fee challans</a:t>
              </a:r>
              <a:endParaRPr lang="en-US" sz="145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777240" y="6446520"/>
            <a:ext cx="11384280" cy="32004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419088"/>
            <a:ext cx="11384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1194</Words>
  <Application>Microsoft Office PowerPoint</Application>
  <PresentationFormat>Widescreen</PresentationFormat>
  <Paragraphs>221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Admission &amp; Enrollment System (C++)</dc:title>
  <dc:subject>Admission &amp; Enrollment System</dc:subject>
  <dc:creator>Generated by ChatGPT</dc:creator>
  <cp:lastModifiedBy>Aetisaam Ul Hassan</cp:lastModifiedBy>
  <cp:revision>7</cp:revision>
  <dcterms:created xsi:type="dcterms:W3CDTF">2026-01-10T12:00:24Z</dcterms:created>
  <dcterms:modified xsi:type="dcterms:W3CDTF">2026-01-15T08:14:51Z</dcterms:modified>
</cp:coreProperties>
</file>